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Poppins Ultra-Bold" charset="1" panose="00000900000000000000"/>
      <p:regular r:id="rId12"/>
    </p:embeddedFont>
    <p:embeddedFont>
      <p:font typeface="Roboto Bold" charset="1" panose="02000000000000000000"/>
      <p:regular r:id="rId13"/>
    </p:embeddedFont>
    <p:embeddedFont>
      <p:font typeface="Poppins Medium" charset="1" panose="00000600000000000000"/>
      <p:regular r:id="rId14"/>
    </p:embeddedFont>
    <p:embeddedFont>
      <p:font typeface="Poppins Bold" charset="1" panose="00000800000000000000"/>
      <p:regular r:id="rId15"/>
    </p:embeddedFont>
    <p:embeddedFont>
      <p:font typeface="Roboto" charset="1" panose="02000000000000000000"/>
      <p:regular r:id="rId16"/>
    </p:embeddedFont>
    <p:embeddedFont>
      <p:font typeface="Poppins" charset="1" panose="00000500000000000000"/>
      <p:regular r:id="rId17"/>
    </p:embeddedFont>
    <p:embeddedFont>
      <p:font typeface="Poppins Semi-Bold" charset="1" panose="000007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56440" y="3640352"/>
            <a:ext cx="9811206" cy="5148966"/>
          </a:xfrm>
          <a:custGeom>
            <a:avLst/>
            <a:gdLst/>
            <a:ahLst/>
            <a:cxnLst/>
            <a:rect r="r" b="b" t="t" l="l"/>
            <a:pathLst>
              <a:path h="5148966" w="9811206">
                <a:moveTo>
                  <a:pt x="0" y="0"/>
                </a:moveTo>
                <a:lnTo>
                  <a:pt x="9811206" y="0"/>
                </a:lnTo>
                <a:lnTo>
                  <a:pt x="9811206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8096" y="1098866"/>
            <a:ext cx="5065776" cy="2827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00"/>
              </a:lnSpc>
            </a:pPr>
            <a:r>
              <a:rPr lang="en-US" sz="15643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BOW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4672" y="3697968"/>
            <a:ext cx="3547872" cy="96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8"/>
              </a:lnSpc>
            </a:pPr>
            <a:r>
              <a:rPr lang="en-US" sz="5627" b="true">
                <a:solidFill>
                  <a:srgbClr val="007DFF"/>
                </a:solidFill>
                <a:latin typeface="Roboto Bold"/>
                <a:ea typeface="Roboto Bold"/>
                <a:cs typeface="Roboto Bold"/>
                <a:sym typeface="Roboto Bold"/>
              </a:rPr>
              <a:t>HAYDASH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4672" y="4510641"/>
            <a:ext cx="4005072" cy="96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78"/>
              </a:lnSpc>
            </a:pPr>
            <a:r>
              <a:rPr lang="en-US" sz="562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QUVONCHI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5783021"/>
            <a:ext cx="2187560" cy="218640"/>
          </a:xfrm>
          <a:custGeom>
            <a:avLst/>
            <a:gdLst/>
            <a:ahLst/>
            <a:cxnLst/>
            <a:rect r="r" b="b" t="t" l="l"/>
            <a:pathLst>
              <a:path h="218640" w="2187560">
                <a:moveTo>
                  <a:pt x="0" y="0"/>
                </a:moveTo>
                <a:lnTo>
                  <a:pt x="2187560" y="0"/>
                </a:lnTo>
                <a:lnTo>
                  <a:pt x="218756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04672" y="6241252"/>
            <a:ext cx="4901184" cy="904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4"/>
              </a:lnSpc>
            </a:pPr>
            <a:r>
              <a:rPr lang="en-US" sz="275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BMW avtomobbillari dunyosiga kirish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4672" y="7301756"/>
            <a:ext cx="3950208" cy="809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48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Tarix, mashhur modellar</a:t>
            </a:r>
          </a:p>
          <a:p>
            <a:pPr algn="l">
              <a:lnSpc>
                <a:spcPts val="3100"/>
              </a:lnSpc>
            </a:pPr>
            <a:r>
              <a:rPr lang="en-US" sz="248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 innovatsiyalar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4672" y="8233839"/>
            <a:ext cx="4005072" cy="956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4"/>
              </a:lnSpc>
            </a:pPr>
            <a:r>
              <a:rPr lang="en-US" sz="248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Texnologiyalar va dizayn</a:t>
            </a:r>
          </a:p>
          <a:p>
            <a:pPr algn="l">
              <a:lnSpc>
                <a:spcPts val="3844"/>
              </a:lnSpc>
            </a:pPr>
            <a:r>
              <a:rPr lang="en-US" sz="248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Elektromobilik yo’nalishi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5598" y="1705390"/>
            <a:ext cx="7415828" cy="6876220"/>
          </a:xfrm>
          <a:custGeom>
            <a:avLst/>
            <a:gdLst/>
            <a:ahLst/>
            <a:cxnLst/>
            <a:rect r="r" b="b" t="t" l="l"/>
            <a:pathLst>
              <a:path h="6876220" w="7415828">
                <a:moveTo>
                  <a:pt x="0" y="0"/>
                </a:moveTo>
                <a:lnTo>
                  <a:pt x="7415828" y="0"/>
                </a:lnTo>
                <a:lnTo>
                  <a:pt x="7415828" y="6876220"/>
                </a:lnTo>
                <a:lnTo>
                  <a:pt x="0" y="6876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1520" y="1255960"/>
            <a:ext cx="6327648" cy="1436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85"/>
              </a:lnSpc>
            </a:pPr>
            <a:r>
              <a:rPr lang="en-US" sz="798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KOMPANIYA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1520" y="2415112"/>
            <a:ext cx="3401568" cy="1474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13"/>
              </a:lnSpc>
            </a:pPr>
            <a:r>
              <a:rPr lang="en-US" sz="8152" b="true">
                <a:solidFill>
                  <a:srgbClr val="007DFF"/>
                </a:solidFill>
                <a:latin typeface="Poppins Bold"/>
                <a:ea typeface="Poppins Bold"/>
                <a:cs typeface="Poppins Bold"/>
                <a:sym typeface="Poppins Bold"/>
              </a:rPr>
              <a:t>TARIXI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4066699"/>
            <a:ext cx="2187560" cy="229572"/>
          </a:xfrm>
          <a:custGeom>
            <a:avLst/>
            <a:gdLst/>
            <a:ahLst/>
            <a:cxnLst/>
            <a:rect r="r" b="b" t="t" l="l"/>
            <a:pathLst>
              <a:path h="229572" w="2187560">
                <a:moveTo>
                  <a:pt x="0" y="0"/>
                </a:moveTo>
                <a:lnTo>
                  <a:pt x="2187560" y="0"/>
                </a:lnTo>
                <a:lnTo>
                  <a:pt x="218756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8096" y="4760993"/>
            <a:ext cx="6181344" cy="98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0"/>
              </a:lnSpc>
            </a:pPr>
            <a:r>
              <a:rPr lang="en-US" sz="2985" b="true">
                <a:solidFill>
                  <a:srgbClr val="007DFF"/>
                </a:solidFill>
                <a:latin typeface="Roboto Bold"/>
                <a:ea typeface="Roboto Bold"/>
                <a:cs typeface="Roboto Bold"/>
                <a:sym typeface="Roboto Bold"/>
              </a:rPr>
              <a:t>1916 yıl: </a:t>
            </a:r>
            <a:r>
              <a:rPr lang="en-US" sz="298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Bayerische Motoren Werke tashkil topdi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8096" y="6005720"/>
            <a:ext cx="4992624" cy="98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0"/>
              </a:lnSpc>
            </a:pPr>
            <a:r>
              <a:rPr lang="en-US" sz="298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Dastlab samolyot dvigatellari ishlab chiqarilgan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096" y="7229873"/>
            <a:ext cx="4718304" cy="98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0"/>
              </a:lnSpc>
            </a:pPr>
            <a:r>
              <a:rPr lang="en-US" sz="2985" b="true">
                <a:solidFill>
                  <a:srgbClr val="007DFF"/>
                </a:solidFill>
                <a:latin typeface="Roboto Bold"/>
                <a:ea typeface="Roboto Bold"/>
                <a:cs typeface="Roboto Bold"/>
                <a:sym typeface="Roboto Bold"/>
              </a:rPr>
              <a:t>1928 yıl: </a:t>
            </a:r>
            <a:r>
              <a:rPr lang="en-US" sz="298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birinchi avtomobil ishlab chiqarish boshlandi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8096" y="8454026"/>
            <a:ext cx="4864608" cy="98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0"/>
              </a:lnSpc>
            </a:pPr>
            <a:r>
              <a:rPr lang="en-US" sz="298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Aylana ichidagi ko’k-oq rang brendning timsoli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12708" y="0"/>
            <a:ext cx="2843828" cy="5575313"/>
          </a:xfrm>
          <a:custGeom>
            <a:avLst/>
            <a:gdLst/>
            <a:ahLst/>
            <a:cxnLst/>
            <a:rect r="r" b="b" t="t" l="l"/>
            <a:pathLst>
              <a:path h="5575313" w="2843828">
                <a:moveTo>
                  <a:pt x="0" y="0"/>
                </a:moveTo>
                <a:lnTo>
                  <a:pt x="2843828" y="0"/>
                </a:lnTo>
                <a:lnTo>
                  <a:pt x="2843828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89330" y="0"/>
            <a:ext cx="2625072" cy="5575313"/>
          </a:xfrm>
          <a:custGeom>
            <a:avLst/>
            <a:gdLst/>
            <a:ahLst/>
            <a:cxnLst/>
            <a:rect r="r" b="b" t="t" l="l"/>
            <a:pathLst>
              <a:path h="5575313" w="2625072">
                <a:moveTo>
                  <a:pt x="0" y="0"/>
                </a:moveTo>
                <a:lnTo>
                  <a:pt x="2625072" y="0"/>
                </a:lnTo>
                <a:lnTo>
                  <a:pt x="2625072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65952" y="0"/>
            <a:ext cx="2843828" cy="5575313"/>
          </a:xfrm>
          <a:custGeom>
            <a:avLst/>
            <a:gdLst/>
            <a:ahLst/>
            <a:cxnLst/>
            <a:rect r="r" b="b" t="t" l="l"/>
            <a:pathLst>
              <a:path h="5575313" w="2843828">
                <a:moveTo>
                  <a:pt x="0" y="0"/>
                </a:moveTo>
                <a:lnTo>
                  <a:pt x="2843828" y="0"/>
                </a:lnTo>
                <a:lnTo>
                  <a:pt x="2843828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361330" y="0"/>
            <a:ext cx="2843828" cy="5575313"/>
          </a:xfrm>
          <a:custGeom>
            <a:avLst/>
            <a:gdLst/>
            <a:ahLst/>
            <a:cxnLst/>
            <a:rect r="r" b="b" t="t" l="l"/>
            <a:pathLst>
              <a:path h="5575313" w="2843828">
                <a:moveTo>
                  <a:pt x="0" y="0"/>
                </a:moveTo>
                <a:lnTo>
                  <a:pt x="2843828" y="0"/>
                </a:lnTo>
                <a:lnTo>
                  <a:pt x="2843828" y="5575313"/>
                </a:lnTo>
                <a:lnTo>
                  <a:pt x="0" y="55753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54842" y="5356674"/>
            <a:ext cx="3926670" cy="2153601"/>
          </a:xfrm>
          <a:custGeom>
            <a:avLst/>
            <a:gdLst/>
            <a:ahLst/>
            <a:cxnLst/>
            <a:rect r="r" b="b" t="t" l="l"/>
            <a:pathLst>
              <a:path h="2153601" w="3926670">
                <a:moveTo>
                  <a:pt x="0" y="0"/>
                </a:moveTo>
                <a:lnTo>
                  <a:pt x="3926670" y="0"/>
                </a:lnTo>
                <a:lnTo>
                  <a:pt x="3926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268976" y="5138034"/>
            <a:ext cx="3926670" cy="2372241"/>
          </a:xfrm>
          <a:custGeom>
            <a:avLst/>
            <a:gdLst/>
            <a:ahLst/>
            <a:cxnLst/>
            <a:rect r="r" b="b" t="t" l="l"/>
            <a:pathLst>
              <a:path h="2372241" w="3926670">
                <a:moveTo>
                  <a:pt x="0" y="0"/>
                </a:moveTo>
                <a:lnTo>
                  <a:pt x="3926670" y="0"/>
                </a:lnTo>
                <a:lnTo>
                  <a:pt x="392667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101866" y="4711687"/>
            <a:ext cx="3926670" cy="3006296"/>
          </a:xfrm>
          <a:custGeom>
            <a:avLst/>
            <a:gdLst/>
            <a:ahLst/>
            <a:cxnLst/>
            <a:rect r="r" b="b" t="t" l="l"/>
            <a:pathLst>
              <a:path h="3006296" w="3926670">
                <a:moveTo>
                  <a:pt x="0" y="0"/>
                </a:moveTo>
                <a:lnTo>
                  <a:pt x="3926670" y="0"/>
                </a:lnTo>
                <a:lnTo>
                  <a:pt x="3926670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142574" y="5138034"/>
            <a:ext cx="4145426" cy="2798589"/>
          </a:xfrm>
          <a:custGeom>
            <a:avLst/>
            <a:gdLst/>
            <a:ahLst/>
            <a:cxnLst/>
            <a:rect r="r" b="b" t="t" l="l"/>
            <a:pathLst>
              <a:path h="2798589" w="4145426">
                <a:moveTo>
                  <a:pt x="0" y="0"/>
                </a:moveTo>
                <a:lnTo>
                  <a:pt x="4145426" y="0"/>
                </a:lnTo>
                <a:lnTo>
                  <a:pt x="414542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1792" y="1029793"/>
            <a:ext cx="5559552" cy="153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MASHHUR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1792" y="2223085"/>
            <a:ext cx="5925312" cy="153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40"/>
              </a:lnSpc>
            </a:pPr>
            <a:r>
              <a:rPr lang="en-US" sz="8600" b="true">
                <a:solidFill>
                  <a:srgbClr val="007D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MODELLAR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4066699"/>
            <a:ext cx="2187560" cy="229572"/>
          </a:xfrm>
          <a:custGeom>
            <a:avLst/>
            <a:gdLst/>
            <a:ahLst/>
            <a:cxnLst/>
            <a:rect r="r" b="b" t="t" l="l"/>
            <a:pathLst>
              <a:path h="229572" w="2187560">
                <a:moveTo>
                  <a:pt x="0" y="0"/>
                </a:moveTo>
                <a:lnTo>
                  <a:pt x="2187560" y="0"/>
                </a:lnTo>
                <a:lnTo>
                  <a:pt x="218756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76656" y="4629380"/>
            <a:ext cx="1572768" cy="562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7"/>
              </a:lnSpc>
            </a:pPr>
            <a:r>
              <a:rPr lang="en-US" sz="3119" b="true">
                <a:solidFill>
                  <a:srgbClr val="007DFF"/>
                </a:solidFill>
                <a:latin typeface="Poppins Bold"/>
                <a:ea typeface="Poppins Bold"/>
                <a:cs typeface="Poppins Bold"/>
                <a:sym typeface="Poppins Bold"/>
              </a:rPr>
              <a:t>3 Series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6656" y="5201349"/>
            <a:ext cx="5120640" cy="40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1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sport sedan, eng ommabop model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6656" y="5914859"/>
            <a:ext cx="1572768" cy="56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088" b="true">
                <a:solidFill>
                  <a:srgbClr val="007DFF"/>
                </a:solidFill>
                <a:latin typeface="Poppins Bold"/>
                <a:ea typeface="Poppins Bold"/>
                <a:cs typeface="Poppins Bold"/>
                <a:sym typeface="Poppins Bold"/>
              </a:rPr>
              <a:t>5 Series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6656" y="6459106"/>
            <a:ext cx="2779776" cy="44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6"/>
              </a:lnSpc>
            </a:pPr>
            <a:r>
              <a:rPr lang="en-US" sz="244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biznes sinf sedan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6656" y="7170269"/>
            <a:ext cx="548640" cy="562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7"/>
              </a:lnSpc>
            </a:pPr>
            <a:r>
              <a:rPr lang="en-US" sz="3119" b="true">
                <a:solidFill>
                  <a:srgbClr val="007DFF"/>
                </a:solidFill>
                <a:latin typeface="Poppins Bold"/>
                <a:ea typeface="Poppins Bold"/>
                <a:cs typeface="Poppins Bold"/>
                <a:sym typeface="Poppins Bold"/>
              </a:rPr>
              <a:t>X5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6656" y="7762812"/>
            <a:ext cx="3730752" cy="403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1"/>
              </a:lnSpc>
            </a:pPr>
            <a:r>
              <a:rPr lang="en-US" sz="2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premium krossover (SUV)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6656" y="8448830"/>
            <a:ext cx="1938528" cy="52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05"/>
              </a:lnSpc>
            </a:pPr>
            <a:r>
              <a:rPr lang="en-US" sz="2932" b="true">
                <a:solidFill>
                  <a:srgbClr val="007DFF"/>
                </a:solidFill>
                <a:latin typeface="Poppins Bold"/>
                <a:ea typeface="Poppins Bold"/>
                <a:cs typeface="Poppins Bold"/>
                <a:sym typeface="Poppins Bold"/>
              </a:rPr>
              <a:t>M seriyasi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6656" y="8998922"/>
            <a:ext cx="4956048" cy="43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2"/>
              </a:lnSpc>
            </a:pPr>
            <a:r>
              <a:rPr lang="en-US" sz="242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yuqori tezlikdagi sport versiyalar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778240" y="2817048"/>
            <a:ext cx="512064" cy="113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b="true" sz="6529">
                <a:solidFill>
                  <a:srgbClr val="91B0E1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30768" y="3827497"/>
            <a:ext cx="1097280" cy="477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4"/>
              </a:lnSpc>
            </a:pPr>
            <a:r>
              <a:rPr lang="en-US" b="true" sz="2696">
                <a:solidFill>
                  <a:srgbClr val="91B0E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SERIES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09376" y="2817048"/>
            <a:ext cx="512064" cy="113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b="true" sz="6529">
                <a:solidFill>
                  <a:srgbClr val="91B0E1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07040" y="3776062"/>
            <a:ext cx="1097280" cy="477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4"/>
              </a:lnSpc>
            </a:pPr>
            <a:r>
              <a:rPr lang="en-US" b="true" sz="2696">
                <a:solidFill>
                  <a:srgbClr val="91B0E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SERIES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49072" y="2817048"/>
            <a:ext cx="1005840" cy="113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b="true" sz="6529">
                <a:solidFill>
                  <a:srgbClr val="91B0E1"/>
                </a:solidFill>
                <a:latin typeface="Roboto Bold"/>
                <a:ea typeface="Roboto Bold"/>
                <a:cs typeface="Roboto Bold"/>
                <a:sym typeface="Roboto Bold"/>
              </a:rPr>
              <a:t>X5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819120" y="2570160"/>
            <a:ext cx="768096" cy="113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b="true" sz="6529">
                <a:solidFill>
                  <a:srgbClr val="91B0E1"/>
                </a:solidFill>
                <a:latin typeface="Roboto Bold"/>
                <a:ea typeface="Roboto Bold"/>
                <a:cs typeface="Roboto Bold"/>
                <a:sym typeface="Roboto Bold"/>
              </a:rPr>
              <a:t>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416784" y="3569976"/>
            <a:ext cx="1463040" cy="47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6"/>
              </a:lnSpc>
            </a:pPr>
            <a:r>
              <a:rPr lang="en-US" b="true" sz="2668">
                <a:solidFill>
                  <a:srgbClr val="91B0E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SERIYASI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31464" y="0"/>
            <a:ext cx="10456536" cy="10287000"/>
          </a:xfrm>
          <a:custGeom>
            <a:avLst/>
            <a:gdLst/>
            <a:ahLst/>
            <a:cxnLst/>
            <a:rect r="r" b="b" t="t" l="l"/>
            <a:pathLst>
              <a:path h="10287000" w="10456536">
                <a:moveTo>
                  <a:pt x="0" y="0"/>
                </a:moveTo>
                <a:lnTo>
                  <a:pt x="10456536" y="0"/>
                </a:lnTo>
                <a:lnTo>
                  <a:pt x="104565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6656" y="1188003"/>
            <a:ext cx="7132320" cy="142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9"/>
              </a:lnSpc>
            </a:pPr>
            <a:r>
              <a:rPr lang="en-US" sz="787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TEXNOLOGIYA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6656" y="2357051"/>
            <a:ext cx="5303520" cy="1351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79"/>
              </a:lnSpc>
            </a:pPr>
            <a:r>
              <a:rPr lang="en-US" sz="7556" b="true">
                <a:solidFill>
                  <a:srgbClr val="007DFF"/>
                </a:solidFill>
                <a:latin typeface="Poppins Bold"/>
                <a:ea typeface="Poppins Bold"/>
                <a:cs typeface="Poppins Bold"/>
                <a:sym typeface="Poppins Bold"/>
              </a:rPr>
              <a:t>VA DIZAYN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3848060"/>
            <a:ext cx="2187560" cy="448211"/>
          </a:xfrm>
          <a:custGeom>
            <a:avLst/>
            <a:gdLst/>
            <a:ahLst/>
            <a:cxnLst/>
            <a:rect r="r" b="b" t="t" l="l"/>
            <a:pathLst>
              <a:path h="448211" w="2187560">
                <a:moveTo>
                  <a:pt x="0" y="0"/>
                </a:moveTo>
                <a:lnTo>
                  <a:pt x="2187560" y="0"/>
                </a:lnTo>
                <a:lnTo>
                  <a:pt x="218756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8096" y="4461239"/>
            <a:ext cx="3657600" cy="99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28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Ikki buyrakli panjara (kidney grille)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5564382"/>
            <a:ext cx="5676718" cy="229572"/>
          </a:xfrm>
          <a:custGeom>
            <a:avLst/>
            <a:gdLst/>
            <a:ahLst/>
            <a:cxnLst/>
            <a:rect r="r" b="b" t="t" l="l"/>
            <a:pathLst>
              <a:path h="229572" w="5676718">
                <a:moveTo>
                  <a:pt x="0" y="0"/>
                </a:moveTo>
                <a:lnTo>
                  <a:pt x="5676718" y="0"/>
                </a:lnTo>
                <a:lnTo>
                  <a:pt x="5676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8096" y="5947115"/>
            <a:ext cx="5797296" cy="49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28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iDrive axborot-ko'ngilochar tizimi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6635716"/>
            <a:ext cx="5676718" cy="229572"/>
          </a:xfrm>
          <a:custGeom>
            <a:avLst/>
            <a:gdLst/>
            <a:ahLst/>
            <a:cxnLst/>
            <a:rect r="r" b="b" t="t" l="l"/>
            <a:pathLst>
              <a:path h="229572" w="5676718">
                <a:moveTo>
                  <a:pt x="0" y="0"/>
                </a:moveTo>
                <a:lnTo>
                  <a:pt x="5676718" y="0"/>
                </a:lnTo>
                <a:lnTo>
                  <a:pt x="5676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8096" y="6975815"/>
            <a:ext cx="6620256" cy="496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28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Hay dovchiga yordam beruvchi tizimlar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7707051"/>
            <a:ext cx="5676718" cy="229572"/>
          </a:xfrm>
          <a:custGeom>
            <a:avLst/>
            <a:gdLst/>
            <a:ahLst/>
            <a:cxnLst/>
            <a:rect r="r" b="b" t="t" l="l"/>
            <a:pathLst>
              <a:path h="229572" w="5676718">
                <a:moveTo>
                  <a:pt x="0" y="0"/>
                </a:moveTo>
                <a:lnTo>
                  <a:pt x="5676718" y="0"/>
                </a:lnTo>
                <a:lnTo>
                  <a:pt x="567671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68096" y="8030828"/>
            <a:ext cx="3877056" cy="999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9"/>
              </a:lnSpc>
            </a:pPr>
            <a:r>
              <a:rPr lang="en-US" sz="28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50:50 vazn taqsimoti va aniq boshqaruv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37952" y="0"/>
            <a:ext cx="1542230" cy="7510275"/>
          </a:xfrm>
          <a:custGeom>
            <a:avLst/>
            <a:gdLst/>
            <a:ahLst/>
            <a:cxnLst/>
            <a:rect r="r" b="b" t="t" l="l"/>
            <a:pathLst>
              <a:path h="7510275" w="1542230">
                <a:moveTo>
                  <a:pt x="0" y="0"/>
                </a:moveTo>
                <a:lnTo>
                  <a:pt x="1542230" y="0"/>
                </a:lnTo>
                <a:lnTo>
                  <a:pt x="1542230" y="7510275"/>
                </a:lnTo>
                <a:lnTo>
                  <a:pt x="0" y="7510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48622" y="4066699"/>
            <a:ext cx="1093780" cy="3651284"/>
          </a:xfrm>
          <a:custGeom>
            <a:avLst/>
            <a:gdLst/>
            <a:ahLst/>
            <a:cxnLst/>
            <a:rect r="r" b="b" t="t" l="l"/>
            <a:pathLst>
              <a:path h="3651284" w="1093780">
                <a:moveTo>
                  <a:pt x="0" y="0"/>
                </a:moveTo>
                <a:lnTo>
                  <a:pt x="1093780" y="0"/>
                </a:lnTo>
                <a:lnTo>
                  <a:pt x="109378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56440" y="3640352"/>
            <a:ext cx="10904986" cy="5367606"/>
          </a:xfrm>
          <a:custGeom>
            <a:avLst/>
            <a:gdLst/>
            <a:ahLst/>
            <a:cxnLst/>
            <a:rect r="r" b="b" t="t" l="l"/>
            <a:pathLst>
              <a:path h="5367606" w="10904986">
                <a:moveTo>
                  <a:pt x="0" y="0"/>
                </a:moveTo>
                <a:lnTo>
                  <a:pt x="10904986" y="0"/>
                </a:lnTo>
                <a:lnTo>
                  <a:pt x="10904986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4944" y="824032"/>
            <a:ext cx="9619488" cy="153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38"/>
              </a:lnSpc>
            </a:pPr>
            <a:r>
              <a:rPr lang="en-US" b="true" sz="8598" spc="-25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ELEKTRLASHTIRISH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4944" y="2032895"/>
            <a:ext cx="6071616" cy="1456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85"/>
              </a:lnSpc>
            </a:pPr>
            <a:r>
              <a:rPr lang="en-US" b="true" sz="8061" spc="-241">
                <a:solidFill>
                  <a:srgbClr val="0079E7"/>
                </a:solidFill>
                <a:latin typeface="Poppins Bold"/>
                <a:ea typeface="Poppins Bold"/>
                <a:cs typeface="Poppins Bold"/>
                <a:sym typeface="Poppins Bold"/>
              </a:rPr>
              <a:t>VA KELAJAK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3848060"/>
            <a:ext cx="2406316" cy="448211"/>
          </a:xfrm>
          <a:custGeom>
            <a:avLst/>
            <a:gdLst/>
            <a:ahLst/>
            <a:cxnLst/>
            <a:rect r="r" b="b" t="t" l="l"/>
            <a:pathLst>
              <a:path h="448211" w="2406316">
                <a:moveTo>
                  <a:pt x="0" y="0"/>
                </a:moveTo>
                <a:lnTo>
                  <a:pt x="2406316" y="0"/>
                </a:lnTo>
                <a:lnTo>
                  <a:pt x="240631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94944" y="4693648"/>
            <a:ext cx="5065776" cy="52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7"/>
              </a:lnSpc>
            </a:pPr>
            <a:r>
              <a:rPr lang="en-US" sz="306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BMW i4 va iX elektromobillari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4944" y="5481436"/>
            <a:ext cx="3950208" cy="54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Plagin-gibrid modellar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4944" y="6335754"/>
            <a:ext cx="4992624" cy="101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0"/>
              </a:lnSpc>
            </a:pPr>
            <a:r>
              <a:rPr lang="en-US" sz="3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Barqaror ishlab chiqarish va qayta ishlangan materiallar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4944" y="7693141"/>
            <a:ext cx="4352544" cy="544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Neue Klasse platformasi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12708" y="3214004"/>
            <a:ext cx="10675292" cy="5367606"/>
          </a:xfrm>
          <a:custGeom>
            <a:avLst/>
            <a:gdLst/>
            <a:ahLst/>
            <a:cxnLst/>
            <a:rect r="r" b="b" t="t" l="l"/>
            <a:pathLst>
              <a:path h="5367606" w="10675292">
                <a:moveTo>
                  <a:pt x="0" y="0"/>
                </a:moveTo>
                <a:lnTo>
                  <a:pt x="10675292" y="0"/>
                </a:lnTo>
                <a:lnTo>
                  <a:pt x="10675292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94944" y="736800"/>
            <a:ext cx="5833872" cy="192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51"/>
              </a:lnSpc>
            </a:pPr>
            <a:r>
              <a:rPr lang="en-US" sz="1067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XULOSA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569017"/>
            <a:ext cx="2406316" cy="437279"/>
          </a:xfrm>
          <a:custGeom>
            <a:avLst/>
            <a:gdLst/>
            <a:ahLst/>
            <a:cxnLst/>
            <a:rect r="r" b="b" t="t" l="l"/>
            <a:pathLst>
              <a:path h="437279" w="2406316">
                <a:moveTo>
                  <a:pt x="0" y="0"/>
                </a:moveTo>
                <a:lnTo>
                  <a:pt x="2406316" y="0"/>
                </a:lnTo>
                <a:lnTo>
                  <a:pt x="240631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8133399"/>
            <a:ext cx="6978316" cy="1519546"/>
          </a:xfrm>
          <a:custGeom>
            <a:avLst/>
            <a:gdLst/>
            <a:ahLst/>
            <a:cxnLst/>
            <a:rect r="r" b="b" t="t" l="l"/>
            <a:pathLst>
              <a:path h="1519546" w="6978316">
                <a:moveTo>
                  <a:pt x="0" y="0"/>
                </a:moveTo>
                <a:lnTo>
                  <a:pt x="6978316" y="0"/>
                </a:lnTo>
                <a:lnTo>
                  <a:pt x="697831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33856" y="8345601"/>
            <a:ext cx="6016752" cy="627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3"/>
              </a:lnSpc>
            </a:pPr>
            <a:r>
              <a:rPr lang="en-US" b="true" sz="367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SAVOLLARINGIZ BORMI?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1680" y="8967913"/>
            <a:ext cx="4261104" cy="431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6"/>
              </a:lnSpc>
            </a:pPr>
            <a:r>
              <a:rPr lang="en-US" b="true" sz="2411">
                <a:solidFill>
                  <a:srgbClr val="006DFF"/>
                </a:solidFill>
                <a:latin typeface="Poppins Bold"/>
                <a:ea typeface="Poppins Bold"/>
                <a:cs typeface="Poppins Bold"/>
                <a:sym typeface="Poppins Bold"/>
              </a:rPr>
              <a:t>- SO'RASHINGIZ MUMKIN 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1520" y="3192107"/>
            <a:ext cx="4645152" cy="4576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9"/>
              </a:lnSpc>
            </a:pPr>
            <a:r>
              <a:rPr lang="en-US" sz="2342" b="true">
                <a:solidFill>
                  <a:srgbClr val="006DFF"/>
                </a:solidFill>
                <a:latin typeface="Poppins Bold"/>
                <a:ea typeface="Poppins Bold"/>
                <a:cs typeface="Poppins Bold"/>
                <a:sym typeface="Poppins Bold"/>
              </a:rPr>
              <a:t>BMW</a:t>
            </a:r>
            <a:r>
              <a:rPr lang="en-US" sz="23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— premium sifatning mukammal andozasi</a:t>
            </a:r>
          </a:p>
          <a:p>
            <a:pPr algn="l">
              <a:lnSpc>
                <a:spcPts val="3279"/>
              </a:lnSpc>
            </a:pPr>
          </a:p>
          <a:p>
            <a:pPr algn="l">
              <a:lnSpc>
                <a:spcPts val="3279"/>
              </a:lnSpc>
            </a:pPr>
            <a:r>
              <a:rPr lang="en-US" sz="2342" b="true">
                <a:solidFill>
                  <a:srgbClr val="006DFF"/>
                </a:solidFill>
                <a:latin typeface="Poppins Bold"/>
                <a:ea typeface="Poppins Bold"/>
                <a:cs typeface="Poppins Bold"/>
                <a:sym typeface="Poppins Bold"/>
              </a:rPr>
              <a:t>Sport ruhi</a:t>
            </a:r>
            <a:r>
              <a:rPr lang="en-US" sz="23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har bir modelda his etiladi</a:t>
            </a:r>
          </a:p>
          <a:p>
            <a:pPr algn="l">
              <a:lnSpc>
                <a:spcPts val="3279"/>
              </a:lnSpc>
            </a:pPr>
          </a:p>
          <a:p>
            <a:pPr algn="l">
              <a:lnSpc>
                <a:spcPts val="3279"/>
              </a:lnSpc>
            </a:pPr>
            <a:r>
              <a:rPr lang="en-US" sz="2342" b="true">
                <a:solidFill>
                  <a:srgbClr val="006DFF"/>
                </a:solidFill>
                <a:latin typeface="Poppins Bold"/>
                <a:ea typeface="Poppins Bold"/>
                <a:cs typeface="Poppins Bold"/>
                <a:sym typeface="Poppins Bold"/>
              </a:rPr>
              <a:t>Innovatsiyalar</a:t>
            </a:r>
            <a:r>
              <a:rPr lang="en-US" sz="23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kelajakni bugundan yaratadi</a:t>
            </a:r>
          </a:p>
          <a:p>
            <a:pPr algn="l">
              <a:lnSpc>
                <a:spcPts val="3279"/>
              </a:lnSpc>
            </a:pPr>
          </a:p>
          <a:p>
            <a:pPr algn="l">
              <a:lnSpc>
                <a:spcPts val="3279"/>
              </a:lnSpc>
            </a:pPr>
            <a:r>
              <a:rPr lang="en-US" sz="2342" b="true">
                <a:solidFill>
                  <a:srgbClr val="006DFF"/>
                </a:solidFill>
                <a:latin typeface="Poppins Bold"/>
                <a:ea typeface="Poppins Bold"/>
                <a:cs typeface="Poppins Bold"/>
                <a:sym typeface="Poppins Bold"/>
              </a:rPr>
              <a:t>Elektromobillik</a:t>
            </a:r>
            <a:r>
              <a:rPr lang="en-US" sz="23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barqaror harakat sari dadil qadam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DAHWcy-rIqo</dc:identifier>
  <dcterms:modified xsi:type="dcterms:W3CDTF">2011-08-01T06:04:30Z</dcterms:modified>
  <cp:revision>1</cp:revision>
  <dc:title>BMW avtomobillari</dc:title>
</cp:coreProperties>
</file>